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3"/>
    <p:sldId id="275" r:id="rId4"/>
    <p:sldId id="290" r:id="rId5"/>
    <p:sldId id="271" r:id="rId6"/>
    <p:sldId id="294" r:id="rId7"/>
    <p:sldId id="295" r:id="rId8"/>
    <p:sldId id="297" r:id="rId9"/>
    <p:sldId id="300" r:id="rId10"/>
    <p:sldId id="301" r:id="rId11"/>
    <p:sldId id="302" r:id="rId12"/>
    <p:sldId id="303" r:id="rId13"/>
    <p:sldId id="305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1" userDrawn="1">
          <p15:clr>
            <a:srgbClr val="A4A3A4"/>
          </p15:clr>
        </p15:guide>
        <p15:guide id="2" pos="3924" userDrawn="1">
          <p15:clr>
            <a:srgbClr val="A4A3A4"/>
          </p15:clr>
        </p15:guide>
        <p15:guide id="3" pos="334" userDrawn="1">
          <p15:clr>
            <a:srgbClr val="A4A3A4"/>
          </p15:clr>
        </p15:guide>
        <p15:guide id="4" pos="73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4AA"/>
    <a:srgbClr val="FFFFFF"/>
    <a:srgbClr val="45AF9A"/>
    <a:srgbClr val="ED8783"/>
    <a:srgbClr val="097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4626"/>
  </p:normalViewPr>
  <p:slideViewPr>
    <p:cSldViewPr snapToGrid="0" snapToObjects="1" showGuides="1">
      <p:cViewPr varScale="1">
        <p:scale>
          <a:sx n="65" d="100"/>
          <a:sy n="65" d="100"/>
        </p:scale>
        <p:origin x="812" y="32"/>
      </p:cViewPr>
      <p:guideLst>
        <p:guide orient="horz" pos="2091"/>
        <p:guide pos="3924"/>
        <p:guide pos="334"/>
        <p:guide pos="73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99BB-23DF-A04B-A006-E4352A34EB0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52418-CEC9-AD41-8D78-31D2969991F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4400" y="823238"/>
            <a:ext cx="3980362" cy="159799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4786733" y="6301409"/>
            <a:ext cx="233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#EducateToEnterprise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15936" y="724619"/>
            <a:ext cx="11160127" cy="4589253"/>
            <a:chOff x="515936" y="724619"/>
            <a:chExt cx="11160127" cy="4589253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515938" y="724619"/>
              <a:ext cx="1116012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15938" y="724619"/>
              <a:ext cx="0" cy="458925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15936" y="724619"/>
              <a:ext cx="2398143" cy="239814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901796" y="1723292"/>
            <a:ext cx="3774266" cy="4679664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515938" y="1376578"/>
            <a:ext cx="42113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8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2">
                    <a:lumMod val="90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2">
                  <a:lumMod val="90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901796" y="455044"/>
            <a:ext cx="3774266" cy="5947912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515938" y="1376578"/>
            <a:ext cx="42113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3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15938" y="624840"/>
            <a:ext cx="4056062" cy="5608320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7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-281556" y="3019894"/>
            <a:ext cx="4190060" cy="3838106"/>
          </a:xfrm>
          <a:prstGeom prst="round2SameRect">
            <a:avLst>
              <a:gd name="adj1" fmla="val 4464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929621" y="1388526"/>
            <a:ext cx="4746441" cy="4257625"/>
          </a:xfrm>
          <a:prstGeom prst="round2SameRect">
            <a:avLst>
              <a:gd name="adj1" fmla="val 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1600201"/>
            <a:ext cx="12192000" cy="2680636"/>
          </a:xfrm>
          <a:prstGeom prst="round2SameRect">
            <a:avLst>
              <a:gd name="adj1" fmla="val 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8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312977" y="2020452"/>
            <a:ext cx="6250430" cy="3177713"/>
          </a:xfrm>
          <a:prstGeom prst="round2SameRect">
            <a:avLst>
              <a:gd name="adj1" fmla="val 6096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15937" y="1124743"/>
            <a:ext cx="6295409" cy="3320897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71589-2BDF-CB41-A6E5-57492F945B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078F8-F842-FB4B-9F54-E6C983E097A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/>
          <p:cNvSpPr txBox="1"/>
          <p:nvPr/>
        </p:nvSpPr>
        <p:spPr>
          <a:xfrm>
            <a:off x="2494672" y="3277668"/>
            <a:ext cx="7527703" cy="123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EduVault: Smart Student  Document Portal</a:t>
            </a:r>
            <a:endParaRPr lang="en-US" sz="40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76220" y="4884420"/>
            <a:ext cx="752983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2400" dirty="0">
                <a:solidFill>
                  <a:schemeClr val="bg1"/>
                </a:solidFill>
                <a:effectLst/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Presented By :</a:t>
            </a:r>
            <a:r>
              <a:rPr lang="en-US" altLang="en-ID" sz="2400" dirty="0">
                <a:solidFill>
                  <a:schemeClr val="bg1"/>
                </a:solidFill>
                <a:effectLst/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Nithya Y</a:t>
            </a:r>
            <a:endParaRPr lang="en-US" altLang="en-ID" sz="2400" dirty="0">
              <a:solidFill>
                <a:schemeClr val="bg1"/>
              </a:solidFill>
              <a:effectLst/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  <a:p>
            <a:r>
              <a:rPr lang="en-ID" sz="2400" dirty="0">
                <a:solidFill>
                  <a:schemeClr val="bg1"/>
                </a:solidFill>
                <a:effectLst/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 </a:t>
            </a:r>
            <a:endParaRPr lang="en-ID" sz="2400" dirty="0">
              <a:solidFill>
                <a:schemeClr val="bg1"/>
              </a:solidFill>
              <a:effectLst/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</p:txBody>
      </p:sp>
      <p:sp>
        <p:nvSpPr>
          <p:cNvPr id="5" name="TextBox 7"/>
          <p:cNvSpPr txBox="1"/>
          <p:nvPr/>
        </p:nvSpPr>
        <p:spPr>
          <a:xfrm>
            <a:off x="2756661" y="2322072"/>
            <a:ext cx="752770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School of Computer Science and Engineering</a:t>
            </a:r>
            <a:endParaRPr lang="en-US" sz="24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/>
          <p:cNvSpPr txBox="1"/>
          <p:nvPr/>
        </p:nvSpPr>
        <p:spPr>
          <a:xfrm>
            <a:off x="516255" y="339725"/>
            <a:ext cx="8438515" cy="12553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36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  <a:sym typeface="+mn-ea"/>
              </a:rPr>
              <a:t>AI-Powered Smart Student  Document Portal</a:t>
            </a:r>
            <a:endParaRPr lang="en-US" altLang="en-US" sz="36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  <a:sym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40510" y="2425700"/>
            <a:ext cx="5509260" cy="461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Group Name:</a:t>
            </a:r>
            <a:r>
              <a:rPr lang="en-US" altLang="en-ID" sz="20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EduVault Team</a:t>
            </a:r>
            <a:endParaRPr lang="en-US" altLang="en-US" sz="2000" dirty="0">
              <a:solidFill>
                <a:schemeClr val="bg1"/>
              </a:solidFill>
              <a:latin typeface="Glacial Indifference" pitchFamily="2" charset="0"/>
              <a:ea typeface="Roboto Condensed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40758" y="1856022"/>
            <a:ext cx="210467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20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Group</a:t>
            </a:r>
            <a:r>
              <a:rPr lang="en-ID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 No: </a:t>
            </a:r>
            <a:r>
              <a:rPr lang="en-US" altLang="en-ID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F9</a:t>
            </a:r>
            <a:endParaRPr lang="en-US" altLang="en-ID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40758" y="3316497"/>
            <a:ext cx="5292661" cy="21539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20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Group Members</a:t>
            </a:r>
            <a:r>
              <a:rPr lang="en-ID" sz="2000" dirty="0" smtClean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:</a:t>
            </a:r>
            <a:endParaRPr lang="en-ID" sz="2000" dirty="0" smtClean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Nithya y &lt;R24EF807&gt; &lt;Roll: Project Leader&gt;</a:t>
            </a:r>
            <a:endParaRPr lang="en-US" sz="20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Akshata&lt;R23EF318&gt; &lt;Roll: Documenter Lead&gt;</a:t>
            </a:r>
            <a:endParaRPr lang="en-US" sz="20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pPr marL="457200" indent="-457200">
              <a:buFont typeface="+mj-lt"/>
              <a:buAutoNum type="arabicPeriod"/>
            </a:pPr>
            <a:endParaRPr lang="en-ID" sz="20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endParaRPr lang="en-ID" sz="20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42760" y="4812665"/>
            <a:ext cx="5044440" cy="1384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prstClr val="white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Name of the Guide:Prof Mandara C M</a:t>
            </a:r>
            <a:endParaRPr lang="en-US" sz="2000" dirty="0">
              <a:solidFill>
                <a:prstClr val="white"/>
              </a:solidFill>
              <a:latin typeface="Glacial Indifference" pitchFamily="2" charset="0"/>
              <a:ea typeface="Roboto Condensed" panose="02000000000000000000" pitchFamily="2" charset="0"/>
              <a:cs typeface="Poppins" panose="00000500000000000000" pitchFamily="2" charset="0"/>
            </a:endParaRPr>
          </a:p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prstClr val="white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Designation</a:t>
            </a:r>
            <a:r>
              <a:rPr lang="en-US" sz="2000" dirty="0" smtClean="0">
                <a:solidFill>
                  <a:prstClr val="white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:</a:t>
            </a:r>
            <a:endParaRPr lang="en-US" sz="2000" dirty="0" smtClean="0">
              <a:solidFill>
                <a:prstClr val="white"/>
              </a:solidFill>
              <a:latin typeface="Glacial Indifference" pitchFamily="2" charset="0"/>
              <a:ea typeface="Roboto Condensed" panose="02000000000000000000" pitchFamily="2" charset="0"/>
              <a:cs typeface="Poppins" panose="00000500000000000000" pitchFamily="2" charset="0"/>
            </a:endParaRPr>
          </a:p>
          <a:p>
            <a:pPr lvl="0">
              <a:lnSpc>
                <a:spcPct val="150000"/>
              </a:lnSpc>
            </a:pPr>
            <a:endParaRPr lang="en-US" sz="2000" dirty="0">
              <a:solidFill>
                <a:prstClr val="white"/>
              </a:solidFill>
              <a:latin typeface="Glacial Indifference" pitchFamily="2" charset="0"/>
              <a:ea typeface="Roboto Condensed" panose="020000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/>
          <p:cNvSpPr txBox="1"/>
          <p:nvPr/>
        </p:nvSpPr>
        <p:spPr>
          <a:xfrm>
            <a:off x="515938" y="253426"/>
            <a:ext cx="843828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Jost" pitchFamily="2" charset="0"/>
                <a:cs typeface="Poppins" pitchFamily="2" charset="77"/>
              </a:rPr>
              <a:t>Table Of Contents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8143" y="1735747"/>
            <a:ext cx="958930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ID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01</a:t>
            </a:r>
            <a:endParaRPr kumimoji="0" lang="en-US" alt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5016" y="1901747"/>
            <a:ext cx="210467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en-ID" sz="2000" dirty="0" smtClean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Planning</a:t>
            </a:r>
            <a:endParaRPr lang="en-ID" sz="2000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pPr lvl="0">
              <a:defRPr/>
            </a:pPr>
            <a:endParaRPr lang="en-ID" sz="2000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6055" y="1735747"/>
            <a:ext cx="958930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ID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02</a:t>
            </a:r>
            <a:endParaRPr kumimoji="0" lang="en-US" altLang="en-ID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01213" y="1943788"/>
            <a:ext cx="210467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Project Scope</a:t>
            </a:r>
            <a:endParaRPr lang="en-ID" sz="2000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1436" y="1735747"/>
            <a:ext cx="95893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03</a:t>
            </a:r>
            <a:endParaRPr kumimoji="0" lang="en-ID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19999" y="1909729"/>
            <a:ext cx="210467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Methodology</a:t>
            </a:r>
            <a:endParaRPr lang="en-ID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8143" y="4189279"/>
            <a:ext cx="95893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07</a:t>
            </a:r>
            <a:endParaRPr kumimoji="0" lang="en-ID" sz="4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99291" y="3147135"/>
            <a:ext cx="22753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Modules identified</a:t>
            </a:r>
            <a:endParaRPr lang="en-ID" sz="2000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36055" y="2879513"/>
            <a:ext cx="95893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05</a:t>
            </a:r>
            <a:endParaRPr kumimoji="0" lang="en-ID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94985" y="3064179"/>
            <a:ext cx="210467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Requirement and cost Analysis</a:t>
            </a:r>
            <a:endParaRPr kumimoji="0" lang="en-ID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81035" y="2905760"/>
            <a:ext cx="108267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06</a:t>
            </a:r>
            <a:endParaRPr kumimoji="0" lang="en-ID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19999" y="2982451"/>
            <a:ext cx="2378573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Developing project execution timelines.</a:t>
            </a:r>
            <a:endParaRPr lang="en-ID" sz="2000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7345" y="3227830"/>
            <a:ext cx="95893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04</a:t>
            </a:r>
            <a:endParaRPr kumimoji="0" lang="en-ID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56986" y="4138617"/>
            <a:ext cx="95893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08</a:t>
            </a:r>
            <a:endParaRPr kumimoji="0" lang="en-ID" sz="4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05121" y="4138615"/>
            <a:ext cx="95893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09</a:t>
            </a:r>
            <a:endParaRPr kumimoji="0" lang="en-ID" sz="4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76140" y="4305043"/>
            <a:ext cx="291013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 smtClean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Draft of Acceptance/Submission  </a:t>
            </a:r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of Survey Paper</a:t>
            </a:r>
            <a:endParaRPr lang="en-ID" sz="2000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15305" y="4400226"/>
            <a:ext cx="22753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Conclusions</a:t>
            </a:r>
            <a:endParaRPr lang="en-ID" sz="2000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355455" y="4363085"/>
            <a:ext cx="2339975" cy="307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References</a:t>
            </a:r>
            <a:endParaRPr lang="en-ID" sz="2000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"/>
          <p:cNvSpPr/>
          <p:nvPr/>
        </p:nvSpPr>
        <p:spPr>
          <a:xfrm>
            <a:off x="-2311400" y="3846195"/>
            <a:ext cx="4876800" cy="4876800"/>
          </a:xfrm>
          <a:prstGeom prst="ellipse">
            <a:avLst/>
          </a:prstGeom>
          <a:solidFill>
            <a:srgbClr val="00D4AA">
              <a:alpha val="5000"/>
            </a:srgbClr>
          </a:solidFill>
          <a:ln w="12700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1" name="Shape 0"/>
          <p:cNvSpPr/>
          <p:nvPr/>
        </p:nvSpPr>
        <p:spPr>
          <a:xfrm>
            <a:off x="10101580" y="2218055"/>
            <a:ext cx="4267200" cy="4267200"/>
          </a:xfrm>
          <a:prstGeom prst="ellipse">
            <a:avLst/>
          </a:prstGeom>
          <a:solidFill>
            <a:srgbClr val="00D4AA">
              <a:alpha val="8000"/>
            </a:srgbClr>
          </a:solidFill>
          <a:ln w="6350">
            <a:solidFill>
              <a:srgbClr val="00D4AA">
                <a:alpha val="20000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87680" y="341376"/>
            <a:ext cx="1219200" cy="463296"/>
          </a:xfrm>
          <a:prstGeom prst="roundRect">
            <a:avLst>
              <a:gd name="adj" fmla="val 157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7680" y="341376"/>
            <a:ext cx="1219200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865" dirty="0"/>
          </a:p>
        </p:txBody>
      </p:sp>
      <p:sp>
        <p:nvSpPr>
          <p:cNvPr id="8" name="Text 5"/>
          <p:cNvSpPr/>
          <p:nvPr/>
        </p:nvSpPr>
        <p:spPr>
          <a:xfrm>
            <a:off x="1889760" y="302260"/>
            <a:ext cx="8534400" cy="6724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300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PLANNING</a:t>
            </a:r>
            <a:endParaRPr lang="en-US" sz="2800" kern="0" spc="300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1371600"/>
            <a:ext cx="76200" cy="7035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910" y="1557020"/>
            <a:ext cx="1239520" cy="538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Goal:</a:t>
            </a:r>
            <a:endParaRPr lang="en-US" sz="2800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643890" y="2736850"/>
            <a:ext cx="201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43" name="Text 9"/>
          <p:cNvSpPr/>
          <p:nvPr/>
        </p:nvSpPr>
        <p:spPr>
          <a:xfrm>
            <a:off x="676910" y="2383155"/>
            <a:ext cx="1961515" cy="538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Objective</a:t>
            </a:r>
            <a:r>
              <a:rPr lang="en-US" sz="24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:</a:t>
            </a:r>
            <a:endParaRPr lang="en-US" sz="2400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484505" y="2218055"/>
            <a:ext cx="76200" cy="7035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7" name="Shape 8"/>
          <p:cNvSpPr/>
          <p:nvPr/>
        </p:nvSpPr>
        <p:spPr>
          <a:xfrm>
            <a:off x="484505" y="3064510"/>
            <a:ext cx="76200" cy="7035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8" name="Text Box 47"/>
          <p:cNvSpPr txBox="1"/>
          <p:nvPr/>
        </p:nvSpPr>
        <p:spPr>
          <a:xfrm>
            <a:off x="676910" y="3209290"/>
            <a:ext cx="2296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Team Roles:</a:t>
            </a:r>
            <a:endParaRPr lang="en-US" sz="2400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  <a:sym typeface="+mn-ea"/>
            </a:endParaRPr>
          </a:p>
        </p:txBody>
      </p:sp>
      <p:sp>
        <p:nvSpPr>
          <p:cNvPr id="49" name="Text Box 48"/>
          <p:cNvSpPr txBox="1"/>
          <p:nvPr/>
        </p:nvSpPr>
        <p:spPr>
          <a:xfrm>
            <a:off x="2565400" y="3287395"/>
            <a:ext cx="7536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Project Lead · Documenter </a:t>
            </a: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· </a:t>
            </a: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Developer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  <a:sym typeface="+mn-ea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484505" y="3910965"/>
            <a:ext cx="76200" cy="7035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3" name="Text Box 52"/>
          <p:cNvSpPr txBox="1"/>
          <p:nvPr/>
        </p:nvSpPr>
        <p:spPr>
          <a:xfrm>
            <a:off x="676910" y="4021455"/>
            <a:ext cx="19329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Timeline:</a:t>
            </a:r>
            <a:endParaRPr lang="en-US" sz="2400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  <a:sym typeface="+mn-ea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2296795" y="4053205"/>
            <a:ext cx="2994025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6 weeks · April – May 2026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Shape 8"/>
          <p:cNvSpPr/>
          <p:nvPr/>
        </p:nvSpPr>
        <p:spPr>
          <a:xfrm>
            <a:off x="487680" y="4737100"/>
            <a:ext cx="76200" cy="7035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10"/>
          <p:cNvSpPr/>
          <p:nvPr/>
        </p:nvSpPr>
        <p:spPr>
          <a:xfrm>
            <a:off x="1646555" y="1371600"/>
            <a:ext cx="9875520" cy="10115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 a secure AI-powered document portal that helps Indian college students store, understand, and use their academic documents effectively.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2296795" y="2637790"/>
            <a:ext cx="9148445" cy="3949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 fontAlgn="ctr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Solve student document mismanagement through AI + security technology</a:t>
            </a:r>
            <a:endParaRPr lang="en-US" dirty="0"/>
          </a:p>
          <a:p>
            <a:pPr marL="0" indent="0" fontAlgn="ctr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82320" y="4833620"/>
            <a:ext cx="1872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Approach:</a:t>
            </a:r>
            <a:endParaRPr lang="en-US" sz="2400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  <a:sym typeface="+mn-ea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2296795" y="4879340"/>
            <a:ext cx="7992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buNone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Agile sprints · Weekly check-ins</a:t>
            </a: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 ·</a:t>
            </a: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 Module-by-module delivery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hape 3"/>
          <p:cNvSpPr/>
          <p:nvPr/>
        </p:nvSpPr>
        <p:spPr>
          <a:xfrm>
            <a:off x="487680" y="341376"/>
            <a:ext cx="1219200" cy="463296"/>
          </a:xfrm>
          <a:prstGeom prst="roundRect">
            <a:avLst>
              <a:gd name="adj" fmla="val 157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341376"/>
            <a:ext cx="1219200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865" dirty="0"/>
          </a:p>
        </p:txBody>
      </p:sp>
      <p:sp>
        <p:nvSpPr>
          <p:cNvPr id="7" name="Text 5"/>
          <p:cNvSpPr/>
          <p:nvPr/>
        </p:nvSpPr>
        <p:spPr>
          <a:xfrm>
            <a:off x="1889760" y="390144"/>
            <a:ext cx="853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kern="0" spc="300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PROJECT SCOPE</a:t>
            </a:r>
            <a:endParaRPr lang="en-US" sz="1335" dirty="0"/>
          </a:p>
        </p:txBody>
      </p:sp>
      <p:sp>
        <p:nvSpPr>
          <p:cNvPr id="10" name="Shape 8"/>
          <p:cNvSpPr/>
          <p:nvPr/>
        </p:nvSpPr>
        <p:spPr>
          <a:xfrm>
            <a:off x="487680" y="1219454"/>
            <a:ext cx="5486400" cy="5120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8485" y="1316482"/>
            <a:ext cx="4998720" cy="4145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F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✓  IN SCOPE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7136" y="2268220"/>
            <a:ext cx="146304" cy="14630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5360" y="2157984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Secure document upload (PDF, JPG, PNG)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7136" y="2634107"/>
            <a:ext cx="146304" cy="14630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5360" y="2523236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 classification via OCR + Gemini API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7136" y="2999359"/>
            <a:ext cx="146304" cy="14630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" y="2889123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Custom vault categories per student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7136" y="3365246"/>
            <a:ext cx="146304" cy="14630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360" y="325501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SHA-256 hash + QR code verification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07136" y="3731133"/>
            <a:ext cx="146304" cy="14630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360" y="3620897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Document completeness checker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7136" y="4060190"/>
            <a:ext cx="146304" cy="14630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360" y="3987419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Contextual usage guidance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07136" y="4426077"/>
            <a:ext cx="146304" cy="14630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360" y="4315841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Smart notifications &amp; alerts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7136" y="4792599"/>
            <a:ext cx="146304" cy="14630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5360" y="4681728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Community tips feed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" name="Shape 0"/>
          <p:cNvSpPr/>
          <p:nvPr/>
        </p:nvSpPr>
        <p:spPr>
          <a:xfrm>
            <a:off x="9144000" y="3679825"/>
            <a:ext cx="4267200" cy="4267200"/>
          </a:xfrm>
          <a:prstGeom prst="ellipse">
            <a:avLst/>
          </a:prstGeom>
          <a:solidFill>
            <a:srgbClr val="00D4AA">
              <a:alpha val="8000"/>
            </a:srgbClr>
          </a:solidFill>
          <a:ln w="6350">
            <a:solidFill>
              <a:srgbClr val="00D4AA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Shape 1"/>
          <p:cNvSpPr/>
          <p:nvPr/>
        </p:nvSpPr>
        <p:spPr>
          <a:xfrm>
            <a:off x="-2523490" y="5122545"/>
            <a:ext cx="4876800" cy="4876800"/>
          </a:xfrm>
          <a:prstGeom prst="ellipse">
            <a:avLst/>
          </a:prstGeom>
          <a:solidFill>
            <a:srgbClr val="00D4AA">
              <a:alpha val="5000"/>
            </a:srgbClr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47" name="Shape 0"/>
          <p:cNvSpPr/>
          <p:nvPr/>
        </p:nvSpPr>
        <p:spPr>
          <a:xfrm>
            <a:off x="9144000" y="-609600"/>
            <a:ext cx="4267200" cy="4267200"/>
          </a:xfrm>
          <a:prstGeom prst="ellipse">
            <a:avLst/>
          </a:prstGeom>
          <a:solidFill>
            <a:srgbClr val="00D4AA">
              <a:alpha val="8000"/>
            </a:srgbClr>
          </a:solidFill>
          <a:ln w="635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" y="341376"/>
            <a:ext cx="1219200" cy="463296"/>
          </a:xfrm>
          <a:prstGeom prst="roundRect">
            <a:avLst>
              <a:gd name="adj" fmla="val 157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341376"/>
            <a:ext cx="1219200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65" dirty="0"/>
          </a:p>
        </p:txBody>
      </p:sp>
      <p:sp>
        <p:nvSpPr>
          <p:cNvPr id="7" name="Text 5"/>
          <p:cNvSpPr/>
          <p:nvPr/>
        </p:nvSpPr>
        <p:spPr>
          <a:xfrm>
            <a:off x="1889760" y="390144"/>
            <a:ext cx="853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kern="0" spc="300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METHODOLOGY</a:t>
            </a:r>
            <a:endParaRPr lang="en-US" sz="1335" dirty="0"/>
          </a:p>
        </p:txBody>
      </p:sp>
      <p:sp>
        <p:nvSpPr>
          <p:cNvPr id="8" name="Text 6"/>
          <p:cNvSpPr/>
          <p:nvPr/>
        </p:nvSpPr>
        <p:spPr>
          <a:xfrm>
            <a:off x="487680" y="877824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System Design &amp; Development Approach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26720" y="1682496"/>
            <a:ext cx="1645920" cy="1341120"/>
          </a:xfrm>
          <a:prstGeom prst="rect">
            <a:avLst/>
          </a:prstGeom>
          <a:solidFill>
            <a:srgbClr val="0F1729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6720" y="1682496"/>
            <a:ext cx="1645920" cy="3413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20" y="1682496"/>
            <a:ext cx="1645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465" dirty="0"/>
          </a:p>
        </p:txBody>
      </p:sp>
      <p:sp>
        <p:nvSpPr>
          <p:cNvPr id="12" name="Text 10"/>
          <p:cNvSpPr/>
          <p:nvPr/>
        </p:nvSpPr>
        <p:spPr>
          <a:xfrm>
            <a:off x="524256" y="2072640"/>
            <a:ext cx="1463040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User</a:t>
            </a:r>
            <a:endParaRPr lang="en-US" sz="1335" dirty="0"/>
          </a:p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Uploads Doc</a:t>
            </a:r>
            <a:endParaRPr lang="en-US" sz="1335" dirty="0"/>
          </a:p>
        </p:txBody>
      </p:sp>
      <p:sp>
        <p:nvSpPr>
          <p:cNvPr id="13" name="Shape 11"/>
          <p:cNvSpPr/>
          <p:nvPr/>
        </p:nvSpPr>
        <p:spPr>
          <a:xfrm>
            <a:off x="2072640" y="2243328"/>
            <a:ext cx="280416" cy="975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3056" y="1682496"/>
            <a:ext cx="1645920" cy="1341120"/>
          </a:xfrm>
          <a:prstGeom prst="rect">
            <a:avLst/>
          </a:prstGeom>
          <a:solidFill>
            <a:srgbClr val="131F35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53056" y="1682496"/>
            <a:ext cx="1645920" cy="3413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3056" y="1682496"/>
            <a:ext cx="1645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465" dirty="0"/>
          </a:p>
        </p:txBody>
      </p:sp>
      <p:sp>
        <p:nvSpPr>
          <p:cNvPr id="17" name="Text 15"/>
          <p:cNvSpPr/>
          <p:nvPr/>
        </p:nvSpPr>
        <p:spPr>
          <a:xfrm>
            <a:off x="2450592" y="2072640"/>
            <a:ext cx="1463040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OCR Extracts</a:t>
            </a:r>
            <a:endParaRPr lang="en-US" sz="1335" dirty="0"/>
          </a:p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Text</a:t>
            </a:r>
            <a:endParaRPr lang="en-US" sz="1335" dirty="0"/>
          </a:p>
        </p:txBody>
      </p:sp>
      <p:sp>
        <p:nvSpPr>
          <p:cNvPr id="18" name="Shape 16"/>
          <p:cNvSpPr/>
          <p:nvPr/>
        </p:nvSpPr>
        <p:spPr>
          <a:xfrm>
            <a:off x="3998976" y="2243328"/>
            <a:ext cx="280416" cy="975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1682496"/>
            <a:ext cx="1645920" cy="1341120"/>
          </a:xfrm>
          <a:prstGeom prst="rect">
            <a:avLst/>
          </a:prstGeom>
          <a:solidFill>
            <a:srgbClr val="131F35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79392" y="1682496"/>
            <a:ext cx="1645920" cy="3413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1682496"/>
            <a:ext cx="1645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465" dirty="0"/>
          </a:p>
        </p:txBody>
      </p:sp>
      <p:sp>
        <p:nvSpPr>
          <p:cNvPr id="22" name="Text 20"/>
          <p:cNvSpPr/>
          <p:nvPr/>
        </p:nvSpPr>
        <p:spPr>
          <a:xfrm>
            <a:off x="4376928" y="2072640"/>
            <a:ext cx="1463040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Gemini AI</a:t>
            </a:r>
            <a:endParaRPr lang="en-US" sz="1335" dirty="0"/>
          </a:p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Classifies</a:t>
            </a:r>
            <a:endParaRPr lang="en-US" sz="1335" dirty="0"/>
          </a:p>
        </p:txBody>
      </p:sp>
      <p:sp>
        <p:nvSpPr>
          <p:cNvPr id="23" name="Shape 21"/>
          <p:cNvSpPr/>
          <p:nvPr/>
        </p:nvSpPr>
        <p:spPr>
          <a:xfrm>
            <a:off x="5925312" y="2243328"/>
            <a:ext cx="280416" cy="975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5728" y="1682496"/>
            <a:ext cx="1645920" cy="1341120"/>
          </a:xfrm>
          <a:prstGeom prst="rect">
            <a:avLst/>
          </a:prstGeom>
          <a:solidFill>
            <a:srgbClr val="131F35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5728" y="1682496"/>
            <a:ext cx="1645920" cy="3413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5728" y="1682496"/>
            <a:ext cx="1645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465" dirty="0"/>
          </a:p>
        </p:txBody>
      </p:sp>
      <p:sp>
        <p:nvSpPr>
          <p:cNvPr id="27" name="Text 25"/>
          <p:cNvSpPr/>
          <p:nvPr/>
        </p:nvSpPr>
        <p:spPr>
          <a:xfrm>
            <a:off x="6303264" y="2072640"/>
            <a:ext cx="1463040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SHA-256</a:t>
            </a:r>
            <a:endParaRPr lang="en-US" sz="1335" dirty="0"/>
          </a:p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Hash Stored</a:t>
            </a:r>
            <a:endParaRPr lang="en-US" sz="1335" dirty="0"/>
          </a:p>
        </p:txBody>
      </p:sp>
      <p:sp>
        <p:nvSpPr>
          <p:cNvPr id="28" name="Shape 26"/>
          <p:cNvSpPr/>
          <p:nvPr/>
        </p:nvSpPr>
        <p:spPr>
          <a:xfrm>
            <a:off x="7851648" y="2243328"/>
            <a:ext cx="280416" cy="975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2064" y="1682496"/>
            <a:ext cx="1645920" cy="1341120"/>
          </a:xfrm>
          <a:prstGeom prst="rect">
            <a:avLst/>
          </a:prstGeom>
          <a:solidFill>
            <a:srgbClr val="131F35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2064" y="1682496"/>
            <a:ext cx="1645920" cy="3413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2064" y="1682496"/>
            <a:ext cx="1645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465" dirty="0"/>
          </a:p>
        </p:txBody>
      </p:sp>
      <p:sp>
        <p:nvSpPr>
          <p:cNvPr id="32" name="Text 30"/>
          <p:cNvSpPr/>
          <p:nvPr/>
        </p:nvSpPr>
        <p:spPr>
          <a:xfrm>
            <a:off x="8229600" y="2072640"/>
            <a:ext cx="1463040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QR Code</a:t>
            </a:r>
            <a:endParaRPr lang="en-US" sz="1335" dirty="0"/>
          </a:p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Generated</a:t>
            </a:r>
            <a:endParaRPr lang="en-US" sz="1335" dirty="0"/>
          </a:p>
        </p:txBody>
      </p:sp>
      <p:sp>
        <p:nvSpPr>
          <p:cNvPr id="33" name="Shape 31"/>
          <p:cNvSpPr/>
          <p:nvPr/>
        </p:nvSpPr>
        <p:spPr>
          <a:xfrm>
            <a:off x="9777984" y="2243328"/>
            <a:ext cx="280416" cy="975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0" y="1682496"/>
            <a:ext cx="1645920" cy="1341120"/>
          </a:xfrm>
          <a:prstGeom prst="rect">
            <a:avLst/>
          </a:prstGeom>
          <a:solidFill>
            <a:srgbClr val="131F35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58400" y="1682496"/>
            <a:ext cx="1645920" cy="3413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1682496"/>
            <a:ext cx="1645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465" dirty="0"/>
          </a:p>
        </p:txBody>
      </p:sp>
      <p:sp>
        <p:nvSpPr>
          <p:cNvPr id="37" name="Text 35"/>
          <p:cNvSpPr/>
          <p:nvPr/>
        </p:nvSpPr>
        <p:spPr>
          <a:xfrm>
            <a:off x="10155936" y="2072640"/>
            <a:ext cx="1463040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 Guides</a:t>
            </a:r>
            <a:endParaRPr lang="en-US" sz="1335" dirty="0"/>
          </a:p>
          <a:p>
            <a:pPr marL="0" indent="0" algn="ctr">
              <a:buNone/>
            </a:pPr>
            <a:r>
              <a:rPr lang="en-US" sz="1335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Student</a:t>
            </a:r>
            <a:endParaRPr lang="en-US" sz="1335" dirty="0"/>
          </a:p>
        </p:txBody>
      </p:sp>
      <p:sp>
        <p:nvSpPr>
          <p:cNvPr id="39" name="Shape 37"/>
          <p:cNvSpPr/>
          <p:nvPr/>
        </p:nvSpPr>
        <p:spPr>
          <a:xfrm>
            <a:off x="487680" y="3316224"/>
            <a:ext cx="73152" cy="1158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Box 2"/>
          <p:cNvSpPr txBox="1"/>
          <p:nvPr/>
        </p:nvSpPr>
        <p:spPr>
          <a:xfrm>
            <a:off x="628650" y="3315970"/>
            <a:ext cx="2506345" cy="316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46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Agile Development</a:t>
            </a:r>
            <a:endParaRPr lang="en-US" sz="1465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  <a:sym typeface="+mn-ea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6125" y="3632835"/>
            <a:ext cx="499872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5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Module-by-module sprints with weekly review and integration testing after each module is complete.</a:t>
            </a:r>
            <a:endParaRPr lang="en-US" sz="1265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" name="Shape 37"/>
          <p:cNvSpPr/>
          <p:nvPr/>
        </p:nvSpPr>
        <p:spPr>
          <a:xfrm>
            <a:off x="487680" y="4601464"/>
            <a:ext cx="73152" cy="1158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8" name="Text Box 37"/>
          <p:cNvSpPr txBox="1"/>
          <p:nvPr/>
        </p:nvSpPr>
        <p:spPr>
          <a:xfrm>
            <a:off x="628650" y="460819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API-Fir</a:t>
            </a:r>
            <a:r>
              <a:rPr lang="en-US" sz="14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st Desig</a:t>
            </a:r>
            <a:r>
              <a:rPr lang="en-US" sz="16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n</a:t>
            </a:r>
            <a:endParaRPr lang="en-US" sz="1600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  <a:sym typeface="+mn-ea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11530" y="4945634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FastAPI backend exposes REST endpoints. React frontend consumes them. Gemini AI called via HTTP.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5925185" y="332613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4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Modular Architecture</a:t>
            </a:r>
            <a:endParaRPr lang="en-US" sz="1400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  <a:sym typeface="+mn-ea"/>
            </a:endParaRPr>
          </a:p>
        </p:txBody>
      </p:sp>
      <p:sp>
        <p:nvSpPr>
          <p:cNvPr id="42" name="Text Box 41"/>
          <p:cNvSpPr txBox="1"/>
          <p:nvPr/>
        </p:nvSpPr>
        <p:spPr>
          <a:xfrm>
            <a:off x="6096000" y="36328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5 independent modules share one SQLite database — Auth, Vault, AI Engine, Security, Community.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  <a:sym typeface="+mn-ea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5925185" y="46081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Security by Design</a:t>
            </a:r>
            <a:endParaRPr lang="en-US" sz="1400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  <a:sym typeface="+mn-ea"/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6096000" y="494538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SHA-256 hashing, OTP auth, watermarked downloads, and audit logging built from day one — not added later.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  <a:sym typeface="+mn-ea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5600065" y="3316224"/>
            <a:ext cx="73152" cy="1158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5600065" y="4608449"/>
            <a:ext cx="73152" cy="1158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hape 3"/>
          <p:cNvSpPr/>
          <p:nvPr/>
        </p:nvSpPr>
        <p:spPr>
          <a:xfrm>
            <a:off x="487680" y="341376"/>
            <a:ext cx="1219200" cy="463296"/>
          </a:xfrm>
          <a:prstGeom prst="roundRect">
            <a:avLst>
              <a:gd name="adj" fmla="val 157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341376"/>
            <a:ext cx="1219200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865" dirty="0"/>
          </a:p>
        </p:txBody>
      </p:sp>
      <p:sp>
        <p:nvSpPr>
          <p:cNvPr id="7" name="Text 5"/>
          <p:cNvSpPr/>
          <p:nvPr/>
        </p:nvSpPr>
        <p:spPr>
          <a:xfrm>
            <a:off x="1889760" y="390144"/>
            <a:ext cx="853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kern="0" spc="300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MODULES IDENTIFIED</a:t>
            </a:r>
            <a:endParaRPr lang="en-US" sz="1335" dirty="0"/>
          </a:p>
        </p:txBody>
      </p:sp>
      <p:sp>
        <p:nvSpPr>
          <p:cNvPr id="10" name="Shape 8"/>
          <p:cNvSpPr/>
          <p:nvPr/>
        </p:nvSpPr>
        <p:spPr>
          <a:xfrm>
            <a:off x="487680" y="1731264"/>
            <a:ext cx="877824" cy="8046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680" y="1901952"/>
            <a:ext cx="877824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M1</a:t>
            </a:r>
            <a:endParaRPr lang="en-US" sz="1735" dirty="0"/>
          </a:p>
        </p:txBody>
      </p:sp>
      <p:sp>
        <p:nvSpPr>
          <p:cNvPr id="12" name="Text 10"/>
          <p:cNvSpPr/>
          <p:nvPr/>
        </p:nvSpPr>
        <p:spPr>
          <a:xfrm>
            <a:off x="1600200" y="1811401"/>
            <a:ext cx="3169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Authentication Module</a:t>
            </a:r>
            <a:endParaRPr lang="en-US" sz="16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89760" y="2271522"/>
            <a:ext cx="9997440" cy="316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Mock OTP login via email/phone · Unique Student ID (EDU-XXXX) · Flask session management · Twilio-ready for SMS upgrade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2657856"/>
            <a:ext cx="877824" cy="8046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680" y="2828544"/>
            <a:ext cx="877824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M2</a:t>
            </a:r>
            <a:endParaRPr lang="en-US" sz="1735" dirty="0"/>
          </a:p>
        </p:txBody>
      </p:sp>
      <p:sp>
        <p:nvSpPr>
          <p:cNvPr id="18" name="Text 16"/>
          <p:cNvSpPr/>
          <p:nvPr/>
        </p:nvSpPr>
        <p:spPr>
          <a:xfrm>
            <a:off x="1600200" y="2706243"/>
            <a:ext cx="3169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Document Vault</a:t>
            </a:r>
            <a:endParaRPr lang="en-US" sz="16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889760" y="3074289"/>
            <a:ext cx="9997440" cy="316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Upload PDF/JPG/PNG · Custom categories · View, download, share · Watermark on download · Shareable read-only links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3584448"/>
            <a:ext cx="877824" cy="804672"/>
          </a:xfrm>
          <a:prstGeom prst="rect">
            <a:avLst/>
          </a:prstGeom>
          <a:solidFill>
            <a:srgbClr val="00D4A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680" y="3755136"/>
            <a:ext cx="877824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M3</a:t>
            </a:r>
            <a:endParaRPr lang="en-US" sz="1735" dirty="0"/>
          </a:p>
        </p:txBody>
      </p:sp>
      <p:sp>
        <p:nvSpPr>
          <p:cNvPr id="24" name="Text 22"/>
          <p:cNvSpPr/>
          <p:nvPr/>
        </p:nvSpPr>
        <p:spPr>
          <a:xfrm>
            <a:off x="1524000" y="3524250"/>
            <a:ext cx="3169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 Intelligence Engine</a:t>
            </a:r>
            <a:endParaRPr lang="en-US" sz="16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889760" y="4075430"/>
            <a:ext cx="999744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OCR text extraction via Pytesseract · Gemini 1.5 Flash classification · Usage guidance JSON · Completeness checker · Multi-turn chat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7680" y="4511040"/>
            <a:ext cx="877824" cy="804672"/>
          </a:xfrm>
          <a:prstGeom prst="rect">
            <a:avLst/>
          </a:prstGeom>
          <a:solidFill>
            <a:srgbClr val="00D4AA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680" y="4681728"/>
            <a:ext cx="877824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M4</a:t>
            </a:r>
            <a:endParaRPr lang="en-US" sz="1735" dirty="0"/>
          </a:p>
        </p:txBody>
      </p:sp>
      <p:sp>
        <p:nvSpPr>
          <p:cNvPr id="30" name="Text 28"/>
          <p:cNvSpPr/>
          <p:nvPr/>
        </p:nvSpPr>
        <p:spPr>
          <a:xfrm>
            <a:off x="1524000" y="4584192"/>
            <a:ext cx="3169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Security &amp; Verification</a:t>
            </a:r>
            <a:endParaRPr lang="en-US" sz="16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889760" y="4925695"/>
            <a:ext cx="9997440" cy="3181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SHA-256 fingerprinting · QR code per document · Tamper detection · Full audit log with timestamps in SQLite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7680" y="5437632"/>
            <a:ext cx="877824" cy="804672"/>
          </a:xfrm>
          <a:prstGeom prst="rect">
            <a:avLst/>
          </a:prstGeom>
          <a:solidFill>
            <a:srgbClr val="00D4A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680" y="5608320"/>
            <a:ext cx="877824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M5</a:t>
            </a:r>
            <a:endParaRPr lang="en-US" sz="1735" dirty="0"/>
          </a:p>
        </p:txBody>
      </p:sp>
      <p:sp>
        <p:nvSpPr>
          <p:cNvPr id="36" name="Text 34"/>
          <p:cNvSpPr/>
          <p:nvPr/>
        </p:nvSpPr>
        <p:spPr>
          <a:xfrm>
            <a:off x="1600200" y="5377434"/>
            <a:ext cx="316992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Community &amp; Notifications</a:t>
            </a:r>
            <a:endParaRPr lang="en-US" sz="16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889760" y="5852160"/>
            <a:ext cx="9997440" cy="3898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Tips feed (anonymous) · Smart seasonal alerts · Document expiry reminders · Achievement badges · Peer knowledge sharing</a:t>
            </a:r>
            <a:endParaRPr lang="en-US" sz="14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" name="Shape 0"/>
          <p:cNvSpPr/>
          <p:nvPr/>
        </p:nvSpPr>
        <p:spPr>
          <a:xfrm>
            <a:off x="10185400" y="1974850"/>
            <a:ext cx="4267200" cy="4267200"/>
          </a:xfrm>
          <a:prstGeom prst="ellipse">
            <a:avLst/>
          </a:prstGeom>
          <a:solidFill>
            <a:srgbClr val="00D4AA">
              <a:alpha val="8000"/>
            </a:srgbClr>
          </a:solidFill>
          <a:ln w="635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4" name="Text 6"/>
          <p:cNvSpPr/>
          <p:nvPr/>
        </p:nvSpPr>
        <p:spPr>
          <a:xfrm>
            <a:off x="2194560" y="897255"/>
            <a:ext cx="8229600" cy="647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0D4A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 5 Core Modules</a:t>
            </a:r>
            <a:endParaRPr lang="en-US" sz="2800" b="1" dirty="0">
              <a:solidFill>
                <a:srgbClr val="00D4A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hape 1"/>
          <p:cNvSpPr/>
          <p:nvPr/>
        </p:nvSpPr>
        <p:spPr>
          <a:xfrm>
            <a:off x="-1828800" y="4267200"/>
            <a:ext cx="4876800" cy="4876800"/>
          </a:xfrm>
          <a:prstGeom prst="ellipse">
            <a:avLst/>
          </a:prstGeom>
          <a:solidFill>
            <a:srgbClr val="00D4AA">
              <a:alpha val="5000"/>
            </a:srgbClr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" name="Shape 0"/>
          <p:cNvSpPr/>
          <p:nvPr/>
        </p:nvSpPr>
        <p:spPr>
          <a:xfrm>
            <a:off x="9144000" y="-609600"/>
            <a:ext cx="4267200" cy="4267200"/>
          </a:xfrm>
          <a:prstGeom prst="ellipse">
            <a:avLst/>
          </a:prstGeom>
          <a:solidFill>
            <a:srgbClr val="00D4AA">
              <a:alpha val="8000"/>
            </a:srgbClr>
          </a:solidFill>
          <a:ln w="635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" y="341376"/>
            <a:ext cx="1219200" cy="463296"/>
          </a:xfrm>
          <a:prstGeom prst="roundRect">
            <a:avLst>
              <a:gd name="adj" fmla="val 157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341376"/>
            <a:ext cx="1219200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865" dirty="0"/>
          </a:p>
        </p:txBody>
      </p:sp>
      <p:sp>
        <p:nvSpPr>
          <p:cNvPr id="7" name="Text 5"/>
          <p:cNvSpPr/>
          <p:nvPr/>
        </p:nvSpPr>
        <p:spPr>
          <a:xfrm>
            <a:off x="1889760" y="390144"/>
            <a:ext cx="853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kern="0" spc="300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REQUIREMENT AND COST ANALYSIS</a:t>
            </a:r>
            <a:endParaRPr lang="en-US" sz="1335" dirty="0"/>
          </a:p>
        </p:txBody>
      </p:sp>
      <p:sp>
        <p:nvSpPr>
          <p:cNvPr id="8" name="Text 6"/>
          <p:cNvSpPr/>
          <p:nvPr/>
        </p:nvSpPr>
        <p:spPr>
          <a:xfrm>
            <a:off x="487680" y="877824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00D4A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Tools, Stack &amp; Budget</a:t>
            </a:r>
            <a:endParaRPr lang="en-US" sz="3735" b="1" dirty="0">
              <a:solidFill>
                <a:srgbClr val="00D4A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731264"/>
            <a:ext cx="5486400" cy="4511040"/>
          </a:xfrm>
          <a:prstGeom prst="rect">
            <a:avLst/>
          </a:prstGeom>
          <a:solidFill>
            <a:srgbClr val="131F35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680" y="1731264"/>
            <a:ext cx="5486400" cy="46329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80032"/>
            <a:ext cx="4998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F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340864"/>
            <a:ext cx="18288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Frontend</a:t>
            </a:r>
            <a:endParaRPr lang="en-US" sz="1335" dirty="0"/>
          </a:p>
        </p:txBody>
      </p:sp>
      <p:sp>
        <p:nvSpPr>
          <p:cNvPr id="13" name="Shape 11"/>
          <p:cNvSpPr/>
          <p:nvPr/>
        </p:nvSpPr>
        <p:spPr>
          <a:xfrm>
            <a:off x="2560320" y="2414016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340864"/>
            <a:ext cx="30480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React JS</a:t>
            </a:r>
            <a:endParaRPr lang="en-US" sz="1335" dirty="0"/>
          </a:p>
        </p:txBody>
      </p:sp>
      <p:sp>
        <p:nvSpPr>
          <p:cNvPr id="15" name="Text 13"/>
          <p:cNvSpPr/>
          <p:nvPr/>
        </p:nvSpPr>
        <p:spPr>
          <a:xfrm>
            <a:off x="731520" y="2804160"/>
            <a:ext cx="18288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Backend</a:t>
            </a:r>
            <a:endParaRPr lang="en-US" sz="1335" dirty="0"/>
          </a:p>
        </p:txBody>
      </p:sp>
      <p:sp>
        <p:nvSpPr>
          <p:cNvPr id="16" name="Shape 14"/>
          <p:cNvSpPr/>
          <p:nvPr/>
        </p:nvSpPr>
        <p:spPr>
          <a:xfrm>
            <a:off x="2560320" y="2877312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804160"/>
            <a:ext cx="30480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FastAPI (Python)</a:t>
            </a:r>
            <a:endParaRPr lang="en-US" sz="1335" dirty="0"/>
          </a:p>
        </p:txBody>
      </p:sp>
      <p:sp>
        <p:nvSpPr>
          <p:cNvPr id="18" name="Text 16"/>
          <p:cNvSpPr/>
          <p:nvPr/>
        </p:nvSpPr>
        <p:spPr>
          <a:xfrm>
            <a:off x="731520" y="3267456"/>
            <a:ext cx="18288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Database</a:t>
            </a:r>
            <a:endParaRPr lang="en-US" sz="1335" dirty="0"/>
          </a:p>
        </p:txBody>
      </p:sp>
      <p:sp>
        <p:nvSpPr>
          <p:cNvPr id="19" name="Shape 17"/>
          <p:cNvSpPr/>
          <p:nvPr/>
        </p:nvSpPr>
        <p:spPr>
          <a:xfrm>
            <a:off x="2560320" y="3340608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267456"/>
            <a:ext cx="30480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SQLite</a:t>
            </a:r>
            <a:endParaRPr lang="en-US" sz="1335" dirty="0"/>
          </a:p>
        </p:txBody>
      </p:sp>
      <p:sp>
        <p:nvSpPr>
          <p:cNvPr id="21" name="Text 19"/>
          <p:cNvSpPr/>
          <p:nvPr/>
        </p:nvSpPr>
        <p:spPr>
          <a:xfrm>
            <a:off x="731520" y="3730752"/>
            <a:ext cx="18288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 / LLM</a:t>
            </a:r>
            <a:endParaRPr lang="en-US" sz="1335" dirty="0"/>
          </a:p>
        </p:txBody>
      </p:sp>
      <p:sp>
        <p:nvSpPr>
          <p:cNvPr id="22" name="Shape 20"/>
          <p:cNvSpPr/>
          <p:nvPr/>
        </p:nvSpPr>
        <p:spPr>
          <a:xfrm>
            <a:off x="2560320" y="3803904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730752"/>
            <a:ext cx="30480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Gemini 1.5 Flash API</a:t>
            </a:r>
            <a:endParaRPr lang="en-US" sz="1335" dirty="0"/>
          </a:p>
        </p:txBody>
      </p:sp>
      <p:sp>
        <p:nvSpPr>
          <p:cNvPr id="24" name="Text 22"/>
          <p:cNvSpPr/>
          <p:nvPr/>
        </p:nvSpPr>
        <p:spPr>
          <a:xfrm>
            <a:off x="731520" y="4194048"/>
            <a:ext cx="18288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OCR</a:t>
            </a:r>
            <a:endParaRPr lang="en-US" sz="1335" dirty="0"/>
          </a:p>
        </p:txBody>
      </p:sp>
      <p:sp>
        <p:nvSpPr>
          <p:cNvPr id="25" name="Shape 23"/>
          <p:cNvSpPr/>
          <p:nvPr/>
        </p:nvSpPr>
        <p:spPr>
          <a:xfrm>
            <a:off x="2560320" y="4267200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194048"/>
            <a:ext cx="30480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Pytesseract + PyMuPDF</a:t>
            </a:r>
            <a:endParaRPr lang="en-US" sz="1335" dirty="0"/>
          </a:p>
        </p:txBody>
      </p:sp>
      <p:sp>
        <p:nvSpPr>
          <p:cNvPr id="27" name="Text 25"/>
          <p:cNvSpPr/>
          <p:nvPr/>
        </p:nvSpPr>
        <p:spPr>
          <a:xfrm>
            <a:off x="731520" y="4657344"/>
            <a:ext cx="18288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Security</a:t>
            </a:r>
            <a:endParaRPr lang="en-US" sz="1335" dirty="0"/>
          </a:p>
        </p:txBody>
      </p:sp>
      <p:sp>
        <p:nvSpPr>
          <p:cNvPr id="28" name="Shape 26"/>
          <p:cNvSpPr/>
          <p:nvPr/>
        </p:nvSpPr>
        <p:spPr>
          <a:xfrm>
            <a:off x="2560320" y="4730496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657344"/>
            <a:ext cx="30480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F9616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hashlib (SHA-256) + qrcode</a:t>
            </a:r>
            <a:endParaRPr lang="en-US" sz="1335" dirty="0"/>
          </a:p>
        </p:txBody>
      </p:sp>
      <p:sp>
        <p:nvSpPr>
          <p:cNvPr id="30" name="Text 28"/>
          <p:cNvSpPr/>
          <p:nvPr/>
        </p:nvSpPr>
        <p:spPr>
          <a:xfrm>
            <a:off x="731520" y="5120640"/>
            <a:ext cx="18288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Deployment</a:t>
            </a:r>
            <a:endParaRPr lang="en-US" sz="1335" dirty="0"/>
          </a:p>
        </p:txBody>
      </p:sp>
      <p:sp>
        <p:nvSpPr>
          <p:cNvPr id="31" name="Shape 29"/>
          <p:cNvSpPr/>
          <p:nvPr/>
        </p:nvSpPr>
        <p:spPr>
          <a:xfrm>
            <a:off x="2560320" y="5193792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5120640"/>
            <a:ext cx="30480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Vercel + Render (free)</a:t>
            </a:r>
            <a:endParaRPr lang="en-US" sz="1335" dirty="0"/>
          </a:p>
        </p:txBody>
      </p:sp>
      <p:sp>
        <p:nvSpPr>
          <p:cNvPr id="33" name="Shape 31"/>
          <p:cNvSpPr/>
          <p:nvPr/>
        </p:nvSpPr>
        <p:spPr>
          <a:xfrm>
            <a:off x="6217920" y="1731264"/>
            <a:ext cx="5486400" cy="4511040"/>
          </a:xfrm>
          <a:prstGeom prst="rect">
            <a:avLst/>
          </a:prstGeom>
          <a:solidFill>
            <a:srgbClr val="131F35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1731264"/>
            <a:ext cx="5486400" cy="463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1760" y="1780032"/>
            <a:ext cx="4998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F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Cost Analysis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61760" y="2340864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Gemini API</a:t>
            </a:r>
            <a:endParaRPr lang="en-US" sz="1335" dirty="0"/>
          </a:p>
        </p:txBody>
      </p:sp>
      <p:sp>
        <p:nvSpPr>
          <p:cNvPr id="37" name="Shape 35"/>
          <p:cNvSpPr/>
          <p:nvPr/>
        </p:nvSpPr>
        <p:spPr>
          <a:xfrm>
            <a:off x="8900160" y="2414016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83040" y="2340864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Free  (1500 req/day)</a:t>
            </a:r>
            <a:endParaRPr lang="en-US" sz="1335" dirty="0"/>
          </a:p>
        </p:txBody>
      </p:sp>
      <p:sp>
        <p:nvSpPr>
          <p:cNvPr id="39" name="Text 37"/>
          <p:cNvSpPr/>
          <p:nvPr/>
        </p:nvSpPr>
        <p:spPr>
          <a:xfrm>
            <a:off x="6461760" y="2804160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React JS</a:t>
            </a:r>
            <a:endParaRPr lang="en-US" sz="1335" dirty="0"/>
          </a:p>
        </p:txBody>
      </p:sp>
      <p:sp>
        <p:nvSpPr>
          <p:cNvPr id="40" name="Shape 38"/>
          <p:cNvSpPr/>
          <p:nvPr/>
        </p:nvSpPr>
        <p:spPr>
          <a:xfrm>
            <a:off x="8900160" y="2877312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83040" y="2804160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Free  (open source)</a:t>
            </a:r>
            <a:endParaRPr lang="en-US" sz="1335" dirty="0"/>
          </a:p>
        </p:txBody>
      </p:sp>
      <p:sp>
        <p:nvSpPr>
          <p:cNvPr id="42" name="Text 40"/>
          <p:cNvSpPr/>
          <p:nvPr/>
        </p:nvSpPr>
        <p:spPr>
          <a:xfrm>
            <a:off x="6461760" y="3267456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FastAPI</a:t>
            </a:r>
            <a:endParaRPr lang="en-US" sz="1335" dirty="0"/>
          </a:p>
        </p:txBody>
      </p:sp>
      <p:sp>
        <p:nvSpPr>
          <p:cNvPr id="43" name="Shape 41"/>
          <p:cNvSpPr/>
          <p:nvPr/>
        </p:nvSpPr>
        <p:spPr>
          <a:xfrm>
            <a:off x="8900160" y="3340608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83040" y="3267456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Free  (open source)</a:t>
            </a:r>
            <a:endParaRPr lang="en-US" sz="1335" dirty="0"/>
          </a:p>
        </p:txBody>
      </p:sp>
      <p:sp>
        <p:nvSpPr>
          <p:cNvPr id="45" name="Text 43"/>
          <p:cNvSpPr/>
          <p:nvPr/>
        </p:nvSpPr>
        <p:spPr>
          <a:xfrm>
            <a:off x="6461760" y="3730752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SQLite</a:t>
            </a:r>
            <a:endParaRPr lang="en-US" sz="1335" dirty="0"/>
          </a:p>
        </p:txBody>
      </p:sp>
      <p:sp>
        <p:nvSpPr>
          <p:cNvPr id="46" name="Shape 44"/>
          <p:cNvSpPr/>
          <p:nvPr/>
        </p:nvSpPr>
        <p:spPr>
          <a:xfrm>
            <a:off x="8900160" y="3803904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83040" y="3730752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Free  (built-in)</a:t>
            </a:r>
            <a:endParaRPr lang="en-US" sz="1335" dirty="0"/>
          </a:p>
        </p:txBody>
      </p:sp>
      <p:sp>
        <p:nvSpPr>
          <p:cNvPr id="48" name="Text 46"/>
          <p:cNvSpPr/>
          <p:nvPr/>
        </p:nvSpPr>
        <p:spPr>
          <a:xfrm>
            <a:off x="6461760" y="4194048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Pytesseract</a:t>
            </a:r>
            <a:endParaRPr lang="en-US" sz="1335" dirty="0"/>
          </a:p>
        </p:txBody>
      </p:sp>
      <p:sp>
        <p:nvSpPr>
          <p:cNvPr id="49" name="Shape 47"/>
          <p:cNvSpPr/>
          <p:nvPr/>
        </p:nvSpPr>
        <p:spPr>
          <a:xfrm>
            <a:off x="8900160" y="4267200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83040" y="4194048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Free  (open source)</a:t>
            </a:r>
            <a:endParaRPr lang="en-US" sz="1335" dirty="0"/>
          </a:p>
        </p:txBody>
      </p:sp>
      <p:sp>
        <p:nvSpPr>
          <p:cNvPr id="51" name="Text 49"/>
          <p:cNvSpPr/>
          <p:nvPr/>
        </p:nvSpPr>
        <p:spPr>
          <a:xfrm>
            <a:off x="6461760" y="4657344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Vercel Deploy</a:t>
            </a:r>
            <a:endParaRPr lang="en-US" sz="1335" dirty="0"/>
          </a:p>
        </p:txBody>
      </p:sp>
      <p:sp>
        <p:nvSpPr>
          <p:cNvPr id="52" name="Shape 50"/>
          <p:cNvSpPr/>
          <p:nvPr/>
        </p:nvSpPr>
        <p:spPr>
          <a:xfrm>
            <a:off x="8900160" y="4730496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83040" y="4657344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Free  (hobby tier)</a:t>
            </a:r>
            <a:endParaRPr lang="en-US" sz="1335" dirty="0"/>
          </a:p>
        </p:txBody>
      </p:sp>
      <p:sp>
        <p:nvSpPr>
          <p:cNvPr id="54" name="Text 52"/>
          <p:cNvSpPr/>
          <p:nvPr/>
        </p:nvSpPr>
        <p:spPr>
          <a:xfrm>
            <a:off x="6461760" y="5120640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Render Backend</a:t>
            </a:r>
            <a:endParaRPr lang="en-US" sz="1335" dirty="0"/>
          </a:p>
        </p:txBody>
      </p:sp>
      <p:sp>
        <p:nvSpPr>
          <p:cNvPr id="55" name="Shape 53"/>
          <p:cNvSpPr/>
          <p:nvPr/>
        </p:nvSpPr>
        <p:spPr>
          <a:xfrm>
            <a:off x="8900160" y="5193792"/>
            <a:ext cx="48768" cy="2438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83040" y="5120640"/>
            <a:ext cx="24384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Free  (750 hrs/month)</a:t>
            </a:r>
            <a:endParaRPr lang="en-US" sz="1335" dirty="0"/>
          </a:p>
        </p:txBody>
      </p:sp>
      <p:sp>
        <p:nvSpPr>
          <p:cNvPr id="57" name="Shape 55"/>
          <p:cNvSpPr/>
          <p:nvPr/>
        </p:nvSpPr>
        <p:spPr>
          <a:xfrm>
            <a:off x="6217920" y="6242304"/>
            <a:ext cx="5486400" cy="463296"/>
          </a:xfrm>
          <a:prstGeom prst="rect">
            <a:avLst/>
          </a:prstGeom>
          <a:solidFill>
            <a:srgbClr val="0A1F0F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61760" y="6291072"/>
            <a:ext cx="304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Total Project Cost</a:t>
            </a:r>
            <a:endParaRPr lang="en-US" sz="1465" dirty="0"/>
          </a:p>
        </p:txBody>
      </p:sp>
      <p:sp>
        <p:nvSpPr>
          <p:cNvPr id="59" name="Text 57"/>
          <p:cNvSpPr/>
          <p:nvPr/>
        </p:nvSpPr>
        <p:spPr>
          <a:xfrm>
            <a:off x="9083040" y="6291072"/>
            <a:ext cx="243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₹ 0  (Fully Free Stack)</a:t>
            </a:r>
            <a:endParaRPr lang="en-US" sz="1465" dirty="0"/>
          </a:p>
        </p:txBody>
      </p:sp>
      <p:sp>
        <p:nvSpPr>
          <p:cNvPr id="64" name="Text 62"/>
          <p:cNvSpPr/>
          <p:nvPr/>
        </p:nvSpPr>
        <p:spPr>
          <a:xfrm>
            <a:off x="11582400" y="6534912"/>
            <a:ext cx="548640" cy="30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35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7</a:t>
            </a:r>
            <a:endParaRPr lang="en-US" sz="13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hape 3"/>
          <p:cNvSpPr/>
          <p:nvPr/>
        </p:nvSpPr>
        <p:spPr>
          <a:xfrm>
            <a:off x="365760" y="256032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914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DEVELOPING PROJECT EXECUTION TIMELINES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2260" y="6583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6-Week Development Roadmap</a:t>
            </a:r>
            <a:endParaRPr lang="en-US" sz="2600" b="1" dirty="0">
              <a:solidFill>
                <a:srgbClr val="00D4A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74520" y="1943735"/>
            <a:ext cx="76200" cy="4192905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29867" y="1810004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785" y="194437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Week 1</a:t>
            </a:r>
            <a:endParaRPr lang="en-US" sz="2000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42820" y="1719580"/>
            <a:ext cx="6675120" cy="666750"/>
          </a:xfrm>
          <a:prstGeom prst="rect">
            <a:avLst/>
          </a:prstGeom>
          <a:solidFill>
            <a:srgbClr val="131F3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2845" y="1810258"/>
            <a:ext cx="4114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Authentication System</a:t>
            </a:r>
            <a:endParaRPr lang="en-US" sz="1400" b="1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00960" y="2103755"/>
            <a:ext cx="6400800" cy="233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Mock OTP login + Student ID generation + Flask sessions</a:t>
            </a:r>
            <a:endParaRPr lang="en-US" sz="1600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729867" y="2698115"/>
            <a:ext cx="274320" cy="27432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5600" y="2758186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8D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Week 2</a:t>
            </a:r>
            <a:endParaRPr lang="en-US" sz="2000" b="1" dirty="0">
              <a:solidFill>
                <a:srgbClr val="00B8D9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42820" y="2479040"/>
            <a:ext cx="6675120" cy="696595"/>
          </a:xfrm>
          <a:prstGeom prst="rect">
            <a:avLst/>
          </a:prstGeom>
          <a:solidFill>
            <a:srgbClr val="131F35"/>
          </a:solidFill>
          <a:ln w="6350">
            <a:solidFill>
              <a:srgbClr val="00B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9025" y="2612009"/>
            <a:ext cx="4114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Document Vault</a:t>
            </a:r>
            <a:endParaRPr lang="en-US" sz="1400" b="1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17140" y="2853690"/>
            <a:ext cx="6400800" cy="2425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File upload, custom categories, view/download/share</a:t>
            </a:r>
            <a:endParaRPr lang="en-US" sz="1600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9867" y="342874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04800" y="3520567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Week 3</a:t>
            </a:r>
            <a:endParaRPr lang="en-US" sz="2000" b="1" dirty="0">
              <a:solidFill>
                <a:srgbClr val="F59E0B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242820" y="3284220"/>
            <a:ext cx="6675120" cy="711835"/>
          </a:xfrm>
          <a:prstGeom prst="rect">
            <a:avLst/>
          </a:prstGeom>
          <a:solidFill>
            <a:srgbClr val="131F35"/>
          </a:solidFill>
          <a:ln w="6350">
            <a:solidFill>
              <a:srgbClr val="F59E0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59025" y="3375660"/>
            <a:ext cx="4114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 Intelligence Engine</a:t>
            </a:r>
            <a:endParaRPr lang="en-US" sz="1400" b="1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42845" y="3615690"/>
            <a:ext cx="6400800" cy="2698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OCR + Gemini classification + usage guide + chat</a:t>
            </a:r>
            <a:endParaRPr lang="en-US" sz="1600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719072" y="416001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4965" y="4239133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9616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Week 4</a:t>
            </a:r>
            <a:endParaRPr lang="en-US" sz="2000" b="1" dirty="0">
              <a:solidFill>
                <a:srgbClr val="F96167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242820" y="4104640"/>
            <a:ext cx="6675120" cy="679450"/>
          </a:xfrm>
          <a:prstGeom prst="rect">
            <a:avLst/>
          </a:prstGeom>
          <a:solidFill>
            <a:srgbClr val="131F35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59025" y="4191381"/>
            <a:ext cx="4114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Security Module</a:t>
            </a:r>
            <a:endParaRPr lang="en-US" sz="1400" b="1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600960" y="4463415"/>
            <a:ext cx="6400800" cy="266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SHA-256 + QR code + watermark + audit log</a:t>
            </a:r>
            <a:endParaRPr lang="en-US" sz="1600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719072" y="5011293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04800" y="5096764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78BF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Week 5</a:t>
            </a:r>
            <a:endParaRPr lang="en-US" sz="2000" b="1" dirty="0">
              <a:solidFill>
                <a:srgbClr val="A78BF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242820" y="4893310"/>
            <a:ext cx="6675120" cy="638810"/>
          </a:xfrm>
          <a:prstGeom prst="rect">
            <a:avLst/>
          </a:prstGeom>
          <a:solidFill>
            <a:srgbClr val="131F35"/>
          </a:solidFill>
          <a:ln w="6350">
            <a:solidFill>
              <a:srgbClr val="A78BF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242820" y="4855845"/>
            <a:ext cx="4114800" cy="3213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Community + Notifications</a:t>
            </a:r>
            <a:endParaRPr lang="en-US" sz="1400" b="1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442845" y="5232527"/>
            <a:ext cx="6400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Tips feed + smart alerts + UI polish</a:t>
            </a:r>
            <a:endParaRPr lang="en-US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719072" y="5862574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02260" y="595376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Week 6</a:t>
            </a:r>
            <a:endParaRPr lang="en-US" sz="2000" b="1" dirty="0">
              <a:solidFill>
                <a:srgbClr val="00D4AA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242820" y="5603875"/>
            <a:ext cx="6675120" cy="669925"/>
          </a:xfrm>
          <a:prstGeom prst="rect">
            <a:avLst/>
          </a:prstGeom>
          <a:solidFill>
            <a:srgbClr val="131F35"/>
          </a:solidFill>
          <a:ln w="6350">
            <a:solidFill>
              <a:srgbClr val="00D4A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40280" y="5624830"/>
            <a:ext cx="4801235" cy="3333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Testing + Deployment</a:t>
            </a:r>
            <a:endParaRPr lang="en-US" sz="1400" b="1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442845" y="5917565"/>
            <a:ext cx="6400800" cy="325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Full testing + bug fixes + Vercel/Render deploy</a:t>
            </a:r>
            <a:endParaRPr lang="en-US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54" name="Shape 0"/>
          <p:cNvSpPr/>
          <p:nvPr/>
        </p:nvSpPr>
        <p:spPr>
          <a:xfrm>
            <a:off x="9652000" y="-905510"/>
            <a:ext cx="3841115" cy="4081145"/>
          </a:xfrm>
          <a:prstGeom prst="ellipse">
            <a:avLst/>
          </a:prstGeom>
          <a:solidFill>
            <a:srgbClr val="00D4AA">
              <a:alpha val="8000"/>
            </a:srgbClr>
          </a:solidFill>
          <a:ln w="635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55" name="Shape 0"/>
          <p:cNvSpPr/>
          <p:nvPr/>
        </p:nvSpPr>
        <p:spPr>
          <a:xfrm>
            <a:off x="10001250" y="3284220"/>
            <a:ext cx="1425575" cy="1311910"/>
          </a:xfrm>
          <a:prstGeom prst="ellipse">
            <a:avLst/>
          </a:prstGeom>
          <a:solidFill>
            <a:srgbClr val="00D4AA">
              <a:alpha val="8000"/>
            </a:srgbClr>
          </a:solidFill>
          <a:ln w="6350">
            <a:solidFill>
              <a:srgbClr val="00D4AA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" name="Shape 3"/>
          <p:cNvSpPr/>
          <p:nvPr/>
        </p:nvSpPr>
        <p:spPr>
          <a:xfrm>
            <a:off x="365760" y="256032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0" name="Text 4"/>
          <p:cNvSpPr/>
          <p:nvPr/>
        </p:nvSpPr>
        <p:spPr>
          <a:xfrm>
            <a:off x="365760" y="256032"/>
            <a:ext cx="914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1400" dirty="0"/>
          </a:p>
        </p:txBody>
      </p:sp>
      <p:sp>
        <p:nvSpPr>
          <p:cNvPr id="71" name="Text 5"/>
          <p:cNvSpPr/>
          <p:nvPr/>
        </p:nvSpPr>
        <p:spPr>
          <a:xfrm>
            <a:off x="1417320" y="29260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DRAFT OF ACCEPTANCE / SUBMISSION OF SURVEY PAPER</a:t>
            </a:r>
            <a:endParaRPr lang="en-US" sz="1000" dirty="0"/>
          </a:p>
        </p:txBody>
      </p:sp>
      <p:sp>
        <p:nvSpPr>
          <p:cNvPr id="72" name="Text 6"/>
          <p:cNvSpPr/>
          <p:nvPr/>
        </p:nvSpPr>
        <p:spPr>
          <a:xfrm>
            <a:off x="573405" y="900303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IEEE Paper — Literature Survey Status</a:t>
            </a:r>
            <a:endParaRPr lang="en-US" sz="2400" b="1" dirty="0">
              <a:solidFill>
                <a:srgbClr val="00D4A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75" name="Text 9"/>
          <p:cNvSpPr/>
          <p:nvPr/>
        </p:nvSpPr>
        <p:spPr>
          <a:xfrm>
            <a:off x="682625" y="1116965"/>
            <a:ext cx="11044555" cy="22345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EduVault: An AI-Powered Smart Student Document Portal with Secure Storage, Intelligent Classification, and Contextual Guidance</a:t>
            </a:r>
            <a:endParaRPr lang="en-US" sz="2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756285" y="3122930"/>
            <a:ext cx="8046720" cy="9645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  <a:sym typeface="+mn-ea"/>
              </a:rPr>
              <a:t>• 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IEEE Conference Format (A4)  </a:t>
            </a:r>
            <a:endParaRPr lang="en-US" sz="20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•  Status: Draft Complete</a:t>
            </a:r>
            <a:endParaRPr lang="en-US" sz="200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hape 3"/>
          <p:cNvSpPr/>
          <p:nvPr/>
        </p:nvSpPr>
        <p:spPr>
          <a:xfrm>
            <a:off x="365760" y="256032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914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</a:t>
            </a:r>
            <a:r>
              <a:rPr lang="en-US" sz="2600" b="1" dirty="0"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Key Outcomes &amp; Achievements</a:t>
            </a:r>
            <a:endParaRPr lang="en-US" sz="2600" b="1" dirty="0">
              <a:solidFill>
                <a:schemeClr val="tx1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97535" y="1386840"/>
            <a:ext cx="9578975" cy="1137285"/>
          </a:xfrm>
          <a:prstGeom prst="rect">
            <a:avLst/>
          </a:prstGeom>
        </p:spPr>
        <p:txBody>
          <a:bodyPr>
            <a:noAutofit/>
          </a:bodyPr>
          <a:p>
            <a:r>
              <a:rPr sz="2000">
                <a:solidFill>
                  <a:schemeClr val="tx1"/>
                </a:solidFill>
              </a:rPr>
              <a:t>EduVault is a first-of-its-kind AI-powered student document portal that goes beyond simple storage — it understands, guides, and protects academic documents.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4650" y="3049905"/>
            <a:ext cx="5111750" cy="3037205"/>
          </a:xfrm>
          <a:prstGeom prst="rect">
            <a:avLst/>
          </a:prstGeom>
          <a:solidFill>
            <a:srgbClr val="131F35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683002"/>
            <a:ext cx="5120640" cy="32918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722753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767" y="3596259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332" y="3497453"/>
            <a:ext cx="4663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Unified AI-powered student document portal</a:t>
            </a:r>
            <a:endParaRPr lang="en-US" sz="1400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767" y="3885692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1332" y="3847211"/>
            <a:ext cx="4663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OCR + Gemini API document classification</a:t>
            </a:r>
            <a:endParaRPr lang="en-US" sz="1400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767" y="4290695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1332" y="4197604"/>
            <a:ext cx="4663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SHA-256 integrity + QR verification</a:t>
            </a:r>
            <a:endParaRPr lang="en-US" sz="1400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48767" y="4632198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4547997"/>
            <a:ext cx="4663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Smart usage guidance &amp; completeness checker</a:t>
            </a:r>
            <a:endParaRPr lang="en-US" sz="1400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767" y="4973701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898390"/>
            <a:ext cx="4663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Community tips feed + smart notifications</a:t>
            </a:r>
            <a:endParaRPr lang="en-US" sz="1400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48767" y="5340604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5248783"/>
            <a:ext cx="4663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Full IEEE paper (13 references) drafted</a:t>
            </a:r>
            <a:endParaRPr lang="en-US" sz="1400" dirty="0">
              <a:solidFill>
                <a:srgbClr val="FFFFF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1" name="Shape 42"/>
          <p:cNvSpPr/>
          <p:nvPr/>
        </p:nvSpPr>
        <p:spPr>
          <a:xfrm>
            <a:off x="5669280" y="3817620"/>
            <a:ext cx="5370195" cy="2269490"/>
          </a:xfrm>
          <a:prstGeom prst="rect">
            <a:avLst/>
          </a:prstGeom>
          <a:solidFill>
            <a:srgbClr val="131F35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12" name="Shape 43"/>
          <p:cNvSpPr/>
          <p:nvPr/>
        </p:nvSpPr>
        <p:spPr>
          <a:xfrm>
            <a:off x="5669280" y="2795270"/>
            <a:ext cx="5370195" cy="96393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" name="Text 44"/>
          <p:cNvSpPr/>
          <p:nvPr/>
        </p:nvSpPr>
        <p:spPr>
          <a:xfrm>
            <a:off x="5906770" y="3030855"/>
            <a:ext cx="2743200" cy="572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9BA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Future Work</a:t>
            </a:r>
            <a:endParaRPr lang="en-US" sz="2000" b="1" dirty="0">
              <a:solidFill>
                <a:srgbClr val="7A9BAF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4" name="Shape 45"/>
          <p:cNvSpPr/>
          <p:nvPr/>
        </p:nvSpPr>
        <p:spPr>
          <a:xfrm>
            <a:off x="5906897" y="4112387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46"/>
          <p:cNvSpPr/>
          <p:nvPr/>
        </p:nvSpPr>
        <p:spPr>
          <a:xfrm>
            <a:off x="6229985" y="3967480"/>
            <a:ext cx="2651760" cy="3327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Aadhaar-based authentication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6" name="Shape 47"/>
          <p:cNvSpPr/>
          <p:nvPr/>
        </p:nvSpPr>
        <p:spPr>
          <a:xfrm>
            <a:off x="5906897" y="4441190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48"/>
          <p:cNvSpPr/>
          <p:nvPr/>
        </p:nvSpPr>
        <p:spPr>
          <a:xfrm>
            <a:off x="6287008" y="4386834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IPFS decentralized storage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8" name="Shape 49"/>
          <p:cNvSpPr/>
          <p:nvPr/>
        </p:nvSpPr>
        <p:spPr>
          <a:xfrm>
            <a:off x="5906897" y="4769993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50"/>
          <p:cNvSpPr/>
          <p:nvPr/>
        </p:nvSpPr>
        <p:spPr>
          <a:xfrm>
            <a:off x="6287008" y="4711192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Voice query support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0" name="Shape 51"/>
          <p:cNvSpPr/>
          <p:nvPr/>
        </p:nvSpPr>
        <p:spPr>
          <a:xfrm>
            <a:off x="5906897" y="5059426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52"/>
          <p:cNvSpPr/>
          <p:nvPr/>
        </p:nvSpPr>
        <p:spPr>
          <a:xfrm>
            <a:off x="6229985" y="5011420"/>
            <a:ext cx="3051175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Regional language (Kannada/Hindi)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2" name="Shape 53"/>
          <p:cNvSpPr/>
          <p:nvPr/>
        </p:nvSpPr>
        <p:spPr>
          <a:xfrm>
            <a:off x="5906897" y="5395214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3" name="Text 54"/>
          <p:cNvSpPr/>
          <p:nvPr/>
        </p:nvSpPr>
        <p:spPr>
          <a:xfrm>
            <a:off x="6229858" y="5340223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React Native mobile app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4" name="Shape 55"/>
          <p:cNvSpPr/>
          <p:nvPr/>
        </p:nvSpPr>
        <p:spPr>
          <a:xfrm>
            <a:off x="5906897" y="5696712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56"/>
          <p:cNvSpPr/>
          <p:nvPr/>
        </p:nvSpPr>
        <p:spPr>
          <a:xfrm>
            <a:off x="6229858" y="5613781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DigiLocker API integration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hape 3"/>
          <p:cNvSpPr/>
          <p:nvPr/>
        </p:nvSpPr>
        <p:spPr>
          <a:xfrm>
            <a:off x="365760" y="256032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256032"/>
            <a:ext cx="914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9260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D4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6583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Research Papers </a:t>
            </a:r>
            <a:endParaRPr lang="en-US" sz="2800" b="1" dirty="0">
              <a:solidFill>
                <a:srgbClr val="00D4A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5760" y="1371600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371600"/>
            <a:ext cx="329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[1]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8096" y="1344168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Secure Authentication for Cloud-Based Systems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68096" y="1563624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Multiple Authors  •  2020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5760" y="1865376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1865376"/>
            <a:ext cx="329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[2]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68096" y="1837944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Secure Digital Document Storage System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68096" y="2057400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Multiple Authors  •  2020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65760" y="2359152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2359152"/>
            <a:ext cx="329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[3]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68096" y="2331720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Blockchain-Based Secure Document Management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68096" y="2551176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Multiple Authors  •  2020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65760" y="2852928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2852928"/>
            <a:ext cx="329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[4]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68096" y="2825496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Digital Document Streams Management using Data Mining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68096" y="3044952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IJERT Authors  •  2021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65760" y="3346704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3346704"/>
            <a:ext cx="329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[5]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68096" y="3319272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Blockchain-Based Digital Document Management System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68096" y="3538728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Multiple Authors  •  2021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65760" y="3840480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3840480"/>
            <a:ext cx="329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[6]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8096" y="3813048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AI-Based Student Support Chatbot System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68096" y="4032504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Multiple Authors  •  2021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65760" y="4334256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334256"/>
            <a:ext cx="329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[7]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68096" y="4306824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Secure Document Storage &amp; Retrieval Systems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68096" y="4526280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Multiple Authors  •  2022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4709160" y="1371600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09160" y="1371600"/>
            <a:ext cx="329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[8]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111496" y="1344168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AI-Based Smart Assistant for Document Retrieval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111496" y="1563624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Multiple Authors  •  2022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709160" y="1865376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09160" y="1865376"/>
            <a:ext cx="329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[9]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111496" y="1837944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PDF-Based Chatbot for Document Retrieval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111496" y="2057400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Multiple Authors  •  2023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4709160" y="2359152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09160" y="2359025"/>
            <a:ext cx="4159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[10]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111496" y="2331720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Blockchain-Based Secure Document Management (Advanced)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111496" y="2551176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Multiple Authors  •  2023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709160" y="2852928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09160" y="2853055"/>
            <a:ext cx="43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[11]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111496" y="2825496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Integrating AI Chatbots with PDF Processing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111496" y="3044952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V. N. Patil et al.  •  2024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4709160" y="3346704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09160" y="3346450"/>
            <a:ext cx="43624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[12]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5111496" y="3319272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AI-Powered Document Chatbot using RAG and GPT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5111496" y="3538728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M. Raj, R. Srinivasan  •  2025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4709160" y="3840480"/>
            <a:ext cx="32918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09160" y="3840480"/>
            <a:ext cx="39433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[13]</a:t>
            </a:r>
            <a:endParaRPr lang="en-US" sz="80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5111496" y="3813048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Enhancing Scientific Literature Chatbots using Hybrid RAG</a:t>
            </a:r>
            <a:endParaRPr lang="en-US" sz="950" b="1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111496" y="4032504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H. Ghanadian et al.  •  2026</a:t>
            </a:r>
            <a:endParaRPr lang="en-US" sz="850" dirty="0">
              <a:solidFill>
                <a:schemeClr val="tx1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658114" y="2213039"/>
            <a:ext cx="6875772" cy="2431921"/>
          </a:xfrm>
          <a:prstGeom prst="roundRect">
            <a:avLst/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658114" y="2898928"/>
            <a:ext cx="687577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ID" sz="7000" dirty="0">
                <a:solidFill>
                  <a:schemeClr val="bg1"/>
                </a:solidFill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Thank You</a:t>
            </a:r>
            <a:endParaRPr lang="en-ID" sz="7000" dirty="0">
              <a:solidFill>
                <a:schemeClr val="bg1"/>
              </a:solidFill>
              <a:effectLst/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15938" y="5106838"/>
            <a:ext cx="111601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5459</Words>
  <Application>WPS Presentation</Application>
  <PresentationFormat>Widescreen</PresentationFormat>
  <Paragraphs>446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8" baseType="lpstr">
      <vt:lpstr>Arial</vt:lpstr>
      <vt:lpstr>SimSun</vt:lpstr>
      <vt:lpstr>Wingdings</vt:lpstr>
      <vt:lpstr>Glacial Indifference</vt:lpstr>
      <vt:lpstr>Segoe Print</vt:lpstr>
      <vt:lpstr>Roboto</vt:lpstr>
      <vt:lpstr>Jost</vt:lpstr>
      <vt:lpstr>Poppins</vt:lpstr>
      <vt:lpstr>Open Sans SemiBold</vt:lpstr>
      <vt:lpstr>Roboto Condensed</vt:lpstr>
      <vt:lpstr>Poppins</vt:lpstr>
      <vt:lpstr>Roboto</vt:lpstr>
      <vt:lpstr>Georgia</vt:lpstr>
      <vt:lpstr>Georgia</vt:lpstr>
      <vt:lpstr>Georgia</vt:lpstr>
      <vt:lpstr>Trebuchet MS</vt:lpstr>
      <vt:lpstr>Trebuchet MS</vt:lpstr>
      <vt:lpstr>Trebuchet MS</vt:lpstr>
      <vt:lpstr>Calibri</vt:lpstr>
      <vt:lpstr>Microsoft YaHei</vt:lpstr>
      <vt:lpstr>Arial Unicode MS</vt:lpstr>
      <vt:lpstr>Calibri Light</vt:lpstr>
      <vt:lpstr>Times New Roman</vt:lpstr>
      <vt:lpstr>Wide Latin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Nithya Gracy</cp:lastModifiedBy>
  <cp:revision>92</cp:revision>
  <dcterms:created xsi:type="dcterms:W3CDTF">2023-09-12T06:51:00Z</dcterms:created>
  <dcterms:modified xsi:type="dcterms:W3CDTF">2026-06-09T05:23:17Z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B366E71DB9F34E55A082AF727B317FDE_12</vt:lpwstr>
  </property>
</Properties>
</file>